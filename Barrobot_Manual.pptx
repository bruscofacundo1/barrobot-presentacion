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Archivo ExtraBold"/>
      <p:regular r:id="rId23"/>
    </p:embeddedFont>
    <p:embeddedFont>
      <p:font typeface="Space Grotesk"/>
      <p:regular r:id="rId24"/>
      <p:bold r:id="rId25"/>
    </p:embeddedFont>
    <p:embeddedFont>
      <p:font typeface="Space Grotesk Medium"/>
      <p:regular r:id="rId26"/>
    </p:embeddedFont>
    <p:embeddedFont>
      <p:font typeface="Work Sans"/>
      <p:regular r:id="rId27"/>
    </p:embeddedFont>
    <p:embeddedFont>
      <p:font typeface="Work Sans Medium"/>
      <p:regular r:id="rId28"/>
    </p:embeddedFont>
    <p:embeddedFont>
      <p:font typeface="Work Sans SemiBold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01B">
              <a:alpha val="65000"/>
            </a:srgbClr>
          </a:solidFill>
          <a:ln/>
        </p:spPr>
      </p:sp>
      <p:pic>
        <p:nvPicPr>
          <p:cNvPr id="3" name="Image 0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8" y="1234440"/>
            <a:ext cx="4937760" cy="1499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spc="100" kern="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MANUAL DE MARCA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22452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IDENTIDAD VISUAL  ·  VERSIÓN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EARTH PRINTING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79615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C6D3B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barrobot3d.com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Sobre este manual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8288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1F2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Este manual reúne los elementos que componen la identidad visual de Barrobot3D y establece las pautas para su uso correcto.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1F2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Aplicado con criterio, garantiza una comunicación coherente y reconocible en todos los soportes —del entorno digital al impreso— y protege el activo de marca más valioso del proyecto: su nombre y su imagen.</a:t>
            </a:r>
            <a:endParaRPr lang="en-US" sz="1400" dirty="0"/>
          </a:p>
        </p:txBody>
      </p:sp>
      <p:pic>
        <p:nvPicPr>
          <p:cNvPr id="5" name="Image 0" descr="assets/isotipo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074920"/>
            <a:ext cx="914400" cy="8886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C4326"/>
          </a:solidFill>
          <a:ln/>
        </p:spPr>
      </p:sp>
      <p:pic>
        <p:nvPicPr>
          <p:cNvPr id="7" name="Image 1" descr="assets/strata_col.png">    </p:cNvPr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372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903720" y="1371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26680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marca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26680" y="1700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Esencia, nombre, misión y valores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903720" y="23134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726680" y="22951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Logotipo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726680" y="2642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Componentes, versiones y usos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903720" y="32552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726680" y="32369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Color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726680" y="3584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Paleta institucional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903720" y="41970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7726680" y="4178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Tipografía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72668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Familias y jerarquías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903720" y="5138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772668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Aplicaciones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7726680" y="5468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Redes sociales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 · LA MARCA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¿Qué es Barrobot3D?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78308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31F2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Barrobot3D es un proyecto argentino de desarrollo tecnológico que diseñó y construyó una impresora 3D de gran formato capaz de levantar construcciones utilizando la tierra del propio terreno. Combina fabricación digital, biomateriales y arquitectura paramétrica para automatizar la forma de construir más antigua que existe.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03504" y="3246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2E1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Con base en San Javier, Valle de Traslasierra, Córdoba.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" y="3977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0EBE0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4325112"/>
            <a:ext cx="310896" cy="310896"/>
          </a:xfrm>
          <a:prstGeom prst="rect">
            <a:avLst/>
          </a:prstGeom>
          <a:solidFill>
            <a:srgbClr val="0C4326"/>
          </a:solidFill>
          <a:ln w="12700">
            <a:solidFill>
              <a:srgbClr val="0C43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3544" y="4846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Fabricación digital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3544" y="5349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Desarrollo de la máquina, sus sistemas de control y automatización.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9976" y="3977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0EB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0016" y="4325112"/>
            <a:ext cx="310896" cy="310896"/>
          </a:xfrm>
          <a:prstGeom prst="rect">
            <a:avLst/>
          </a:prstGeom>
          <a:solidFill>
            <a:srgbClr val="0C4326"/>
          </a:solidFill>
          <a:ln w="12700">
            <a:solidFill>
              <a:srgbClr val="0C43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0016" y="4846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Biomateriales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0016" y="5349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Investigación y formulación de mezclas a partir de recursos locales.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56448" y="3977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0EBE0"/>
          </a:solidFill>
          <a:ln/>
        </p:spPr>
      </p:sp>
      <p:sp>
        <p:nvSpPr>
          <p:cNvPr id="17" name="Shape 15"/>
          <p:cNvSpPr/>
          <p:nvPr/>
        </p:nvSpPr>
        <p:spPr>
          <a:xfrm>
            <a:off x="8476488" y="4325112"/>
            <a:ext cx="310896" cy="310896"/>
          </a:xfrm>
          <a:prstGeom prst="rect">
            <a:avLst/>
          </a:prstGeom>
          <a:solidFill>
            <a:srgbClr val="0C4326"/>
          </a:solidFill>
          <a:ln w="12700">
            <a:solidFill>
              <a:srgbClr val="0C43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6488" y="4846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Arquitectura digital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6488" y="5349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Diseño paramétrico y bioclimático de cada proyecto.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01B">
              <a:alpha val="7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 · LA MARCA — EL NOMBRE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BARRO</a:t>
            </a:r>
            <a:pPr indent="0" marL="0">
              <a:buNone/>
            </a:pPr>
            <a:r>
              <a:rPr lang="en-US" sz="52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  +  </a:t>
            </a:r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ROBOT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material más antiguo de la construcción humana y la tecnología más reciente de fabricación, condensados en una sola palabra.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54864" cy="914400"/>
          </a:xfrm>
          <a:prstGeom prst="rect">
            <a:avLst/>
          </a:prstGeom>
          <a:solidFill>
            <a:srgbClr val="9D7A7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46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“Es, básicamente, un robot de barro que imprime barro.”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nombre no propone reemplazar lo natural por lo tecnológico, sino ponerlos a trabajar juntos. Es corto, memorable y pronunciable en español e inglés.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86600" y="1234440"/>
            <a:ext cx="4480560" cy="4297680"/>
          </a:xfrm>
          <a:prstGeom prst="roundRect">
            <a:avLst>
              <a:gd name="adj" fmla="val 1702"/>
            </a:avLst>
          </a:prstGeom>
          <a:solidFill>
            <a:srgbClr val="FBF9F4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EL TAGLINE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24928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C4326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EARTH PRINTING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52360" y="2395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2E1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Impresión con tierra.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5236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EARTH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328269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material: tierra cruda, local, de kilómetro cero, reciclable indefinidamente.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52360" y="4114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52360" y="442569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método: fabricación aditiva, capa por capa, con precisión digital.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52360" y="50292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6A2E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“La tecnología no reemplaza a la naturaleza. La potencia.”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 · LA MARCA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Misión y visión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87452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0C4326"/>
          </a:solidFill>
          <a:ln/>
        </p:spPr>
      </p:sp>
      <p:pic>
        <p:nvPicPr>
          <p:cNvPr id="5" name="Image 0" descr="assets/strata_col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03504" y="1874520"/>
            <a:ext cx="53949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MISIÓN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05840" y="26974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Transformar la manera en que construimos, integrando impresión 3D y materiales locales para democratizar el acceso a la vivienda sostenible, saludable y de bajo impacto ambiental.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Democratizar el acceso a una construcción sostenible mediante la automatización de la construcción con tierra.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81344" y="187452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0EBE0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VISIÓN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269748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 impulsores de una nueva cultura constructiva que combine materiales locales, saberes tradicionales y tecnologías digitales para crear una arquitectura regenerativa, accesible y en armonía con el entorno.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83680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A2E1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Una nueva cultura constructiva donde tradición y tecnología trabajen juntas.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 · LA MARCA — VALORES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Cinco pilares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92024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0C4326"/>
          </a:solidFill>
          <a:ln/>
        </p:spPr>
      </p:sp>
      <p:pic>
        <p:nvPicPr>
          <p:cNvPr id="5" name="Image 0" descr="assets/strata_col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03504" y="1920240"/>
            <a:ext cx="214884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" y="22128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59536" y="315468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Sostenibilidad y regeneración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9536" y="420624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Reducir el impacto y dejar el entorno mejor de lo que estaba.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0" y="192024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F0EBE0"/>
          </a:solidFill>
          <a:ln/>
        </p:spPr>
      </p:sp>
      <p:sp>
        <p:nvSpPr>
          <p:cNvPr id="10" name="Text 7"/>
          <p:cNvSpPr/>
          <p:nvPr/>
        </p:nvSpPr>
        <p:spPr>
          <a:xfrm>
            <a:off x="3182112" y="22128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DA784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182112" y="315468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Arraigo local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182112" y="420624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Materiales y recursos de cada territorio. Cada suelo es distinto.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48656" y="192024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0C4326"/>
          </a:solidFill>
          <a:ln/>
        </p:spPr>
      </p:sp>
      <p:pic>
        <p:nvPicPr>
          <p:cNvPr id="14" name="Image 1" descr="assets/strata_col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5248656" y="1920240"/>
            <a:ext cx="2148840" cy="3246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4688" y="22128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5504688" y="315468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Tradición e innovación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504688" y="420624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Saberes ancestrales y tecnologías contemporáneas, juntos.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571232" y="192024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F0EBE0"/>
          </a:solidFill>
          <a:ln/>
        </p:spPr>
      </p:sp>
      <p:sp>
        <p:nvSpPr>
          <p:cNvPr id="19" name="Text 15"/>
          <p:cNvSpPr/>
          <p:nvPr/>
        </p:nvSpPr>
        <p:spPr>
          <a:xfrm>
            <a:off x="7827264" y="22128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8DA784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7827264" y="315468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Accesibilidad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7827264" y="420624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Que construir bien deje de ser un privilegio.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9893808" y="1920240"/>
            <a:ext cx="2148840" cy="3246120"/>
          </a:xfrm>
          <a:prstGeom prst="roundRect">
            <a:avLst>
              <a:gd name="adj" fmla="val 2979"/>
            </a:avLst>
          </a:prstGeom>
          <a:solidFill>
            <a:srgbClr val="0C4326"/>
          </a:solidFill>
          <a:ln/>
        </p:spPr>
      </p:sp>
      <p:pic>
        <p:nvPicPr>
          <p:cNvPr id="23" name="Image 2" descr="assets/strata_col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9893808" y="1920240"/>
            <a:ext cx="2148840" cy="32461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149840" y="22128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4A9A2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05</a:t>
            </a:r>
            <a:endParaRPr lang="en-US" sz="4000" dirty="0"/>
          </a:p>
        </p:txBody>
      </p:sp>
      <p:sp>
        <p:nvSpPr>
          <p:cNvPr id="25" name="Text 20"/>
          <p:cNvSpPr/>
          <p:nvPr/>
        </p:nvSpPr>
        <p:spPr>
          <a:xfrm>
            <a:off x="10149840" y="3154680"/>
            <a:ext cx="1636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Colaboración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10149840" y="420624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Comunidades, profesionales e instituciones en conjunto.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03504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Sostenibilidad · Arraigo local · Tradición e innovación · Accesibilidad · Colaboración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 · LA MARCA — TONO DE COMUNICACIÓN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hablamos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 punto medio deliberado: ni artesanal ni corporativo frío. El barro como material técnico de alto desempeño, contado con honestidad.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28600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0C432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6D3B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SÍ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A9A2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Preciso y concreto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3924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A9A2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Técnico pero comprensible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7216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A9A2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Honesto sobre la etapa del proyecto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40507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A9A2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Sereno y con autoridad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A9A2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Cálido, humano, con personas detrás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228600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F0EBE0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A2E16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NO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30632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7A73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Grandilocuente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3924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7A73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Jergoso o hermético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7216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7A73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Promesas infladas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0507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7A73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Estridente o publicitario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7A73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— </a:t>
            </a:r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Impersonal o anónimo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C432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PALABRAS QUE USAMOS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" y="5349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tierra · barro · construir · desarrollar · investigar · biomateriales · fabricación digital · local · regenerativo · accesible · saludable · saberes ancestrales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1344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PALABRAS QUE EVITAMOS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5349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7A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revolucionario · disruptivo · único en el mundo · el mejor · solución definitiva · transformá tu vida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 · LOGOTIPO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Componentes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828800"/>
            <a:ext cx="10972800" cy="2286000"/>
          </a:xfrm>
          <a:prstGeom prst="roundRect">
            <a:avLst>
              <a:gd name="adj" fmla="val 2400"/>
            </a:avLst>
          </a:prstGeom>
          <a:solidFill>
            <a:srgbClr val="F0EBE0"/>
          </a:solidFill>
          <a:ln/>
        </p:spPr>
      </p:sp>
      <p:pic>
        <p:nvPicPr>
          <p:cNvPr id="5" name="Image 0" descr="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6888" y="2331720"/>
            <a:ext cx="6217920" cy="18887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Isotipo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" y="48463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módulo con forma de cubo. Sintetiza la estructura de una construcción impresa capa por capa.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79976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Logotipo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79976" y="48463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marca denominativa BARROBOT3D, en tipografía geométrica de trazo firme.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56448" y="4434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Bajada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56448" y="48463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EARTH PRINTING describe la técnica —impresión con tierra— sin restringir su aplicación.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 · LOGOTIPO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Elegir la versión según el fondo, garantizando siempre el máximo contraste y legibilidad.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194560"/>
            <a:ext cx="5394960" cy="1965960"/>
          </a:xfrm>
          <a:prstGeom prst="roundRect">
            <a:avLst>
              <a:gd name="adj" fmla="val 2326"/>
            </a:avLst>
          </a:prstGeom>
          <a:solidFill>
            <a:srgbClr val="FBF9F4"/>
          </a:solidFill>
          <a:ln/>
        </p:spPr>
      </p:sp>
      <p:pic>
        <p:nvPicPr>
          <p:cNvPr id="6" name="Image 0" descr="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719229"/>
            <a:ext cx="3017520" cy="9166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4233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Positiva · full color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" y="4471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Uso preferente sobre fondos claros.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81344" y="2194560"/>
            <a:ext cx="5394960" cy="1965960"/>
          </a:xfrm>
          <a:prstGeom prst="roundRect">
            <a:avLst>
              <a:gd name="adj" fmla="val 2326"/>
            </a:avLst>
          </a:prstGeom>
          <a:solidFill>
            <a:srgbClr val="0C4326"/>
          </a:solidFill>
          <a:ln/>
        </p:spPr>
      </p:sp>
      <p:pic>
        <p:nvPicPr>
          <p:cNvPr id="10" name="Image 1" descr="assets/strata_forest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0" r="0" t="0" b="0"/>
          <a:stretch/>
        </p:blipFill>
        <p:spPr>
          <a:xfrm>
            <a:off x="6181344" y="2194560"/>
            <a:ext cx="5394960" cy="1965960"/>
          </a:xfrm>
          <a:prstGeom prst="rect">
            <a:avLst/>
          </a:prstGeom>
        </p:spPr>
      </p:pic>
      <p:pic>
        <p:nvPicPr>
          <p:cNvPr id="11" name="Image 2" descr="assets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2719229"/>
            <a:ext cx="3017520" cy="9166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81344" y="4233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Negativa · blanco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181344" y="4471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Sobre fondos oscuros o fotografías.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03504" y="4663440"/>
            <a:ext cx="5394960" cy="1965960"/>
          </a:xfrm>
          <a:prstGeom prst="roundRect">
            <a:avLst>
              <a:gd name="adj" fmla="val 2326"/>
            </a:avLst>
          </a:prstGeom>
          <a:solidFill>
            <a:srgbClr val="F0EBE0"/>
          </a:solidFill>
          <a:ln/>
        </p:spPr>
      </p:sp>
      <p:pic>
        <p:nvPicPr>
          <p:cNvPr id="15" name="Image 3" descr="assets/logo_mono_for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5188109"/>
            <a:ext cx="3017520" cy="9166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3504" y="6702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Monocroma · verde bosque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03504" y="69402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Una sola tinta sobre fondo claro.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181344" y="4663440"/>
            <a:ext cx="5394960" cy="1965960"/>
          </a:xfrm>
          <a:prstGeom prst="roundRect">
            <a:avLst>
              <a:gd name="adj" fmla="val 2326"/>
            </a:avLst>
          </a:prstGeom>
          <a:solidFill>
            <a:srgbClr val="F0EBE0"/>
          </a:solidFill>
          <a:ln/>
        </p:spPr>
      </p:sp>
      <p:pic>
        <p:nvPicPr>
          <p:cNvPr id="19" name="Image 4" descr="assets/logo_mono_ter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5188109"/>
            <a:ext cx="3017520" cy="91662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81344" y="6702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Monocroma · tierra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181344" y="69402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Grabado, serigrafía o aplicaciones a una tinta.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 · LOGOTIPO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Área de protección y tamaño mínimo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3504" y="187452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0EBE0"/>
          </a:solidFill>
          <a:ln/>
        </p:spPr>
      </p:sp>
      <p:pic>
        <p:nvPicPr>
          <p:cNvPr id="5" name="Image 0" descr="assets/iso_pro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240280"/>
            <a:ext cx="3383280" cy="33349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ÁREA DE PROTECCIÓN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58368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TAMAÑO MÍNIMO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47104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reducción máxima que preserva el reconocimiento de la marca.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47104" y="306324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0EBE0"/>
          </a:solidFill>
          <a:ln/>
        </p:spPr>
      </p:sp>
      <p:pic>
        <p:nvPicPr>
          <p:cNvPr id="10" name="Image 1" descr="assets/logo_mono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364992"/>
            <a:ext cx="2194560" cy="6666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4326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120 px
</a:t>
            </a:r>
            <a:pPr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ancho mínimo · digital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547104" y="443484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F0EBE0"/>
          </a:solidFill>
          <a:ln/>
        </p:spPr>
      </p:sp>
      <p:pic>
        <p:nvPicPr>
          <p:cNvPr id="13" name="Image 2" descr="assets/logo_mono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736592"/>
            <a:ext cx="1554480" cy="4721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0" y="4754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C4326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25 mm
</a:t>
            </a:r>
            <a:pPr indent="0" marL="0">
              <a:buNone/>
            </a:pPr>
            <a:r>
              <a:rPr lang="en-US" sz="10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ancho mínimo · impreso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03504" y="59893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resguardo equivale a medio módulo del isotipo (½X) en todos los lados. Ningún texto, imagen u otro elemento debe invadir ese espacio.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 · LOGOTIPO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Usos incorrectos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Evitar estas alteraciones: comprometen la coherencia y restan potencia y confianza a la marca.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14884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F0EBE0"/>
          </a:solidFill>
          <a:ln w="12700">
            <a:solidFill>
              <a:srgbClr val="D8CFC0"/>
            </a:solidFill>
            <a:prstDash val="solid"/>
          </a:ln>
        </p:spPr>
      </p:sp>
      <p:pic>
        <p:nvPicPr>
          <p:cNvPr id="6" name="Image 0" descr="assets/bad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" y="2258568"/>
            <a:ext cx="3246120" cy="1517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39593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✕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No deformar ni cambiar la proporción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79976" y="214884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F0EBE0"/>
          </a:solidFill>
          <a:ln w="12700">
            <a:solidFill>
              <a:srgbClr val="D8CFC0"/>
            </a:solidFill>
            <a:prstDash val="solid"/>
          </a:ln>
        </p:spPr>
      </p:sp>
      <p:pic>
        <p:nvPicPr>
          <p:cNvPr id="9" name="Image 1" descr="assets/bad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17136" y="2258568"/>
            <a:ext cx="3246120" cy="1517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9976" y="39593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✕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No alterar los colores institucionales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156448" y="214884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F0EBE0"/>
          </a:solidFill>
          <a:ln w="12700">
            <a:solidFill>
              <a:srgbClr val="D8CFC0"/>
            </a:solidFill>
            <a:prstDash val="solid"/>
          </a:ln>
        </p:spPr>
      </p:sp>
      <p:pic>
        <p:nvPicPr>
          <p:cNvPr id="12" name="Image 2" descr="assets/bad_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3608" y="2258568"/>
            <a:ext cx="3246120" cy="15179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6448" y="39593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✕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No rotar ni inclinar el logotipo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03504" y="452628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F0EBE0"/>
          </a:solidFill>
          <a:ln w="12700">
            <a:solidFill>
              <a:srgbClr val="D8CFC0"/>
            </a:solidFill>
            <a:prstDash val="solid"/>
          </a:ln>
        </p:spPr>
      </p:sp>
      <p:pic>
        <p:nvPicPr>
          <p:cNvPr id="15" name="Image 3" descr="assets/bad_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0664" y="4636008"/>
            <a:ext cx="3246120" cy="15179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3504" y="6336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✕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No aplicar sombras, brillos ni efectos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379976" y="452628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F0EBE0"/>
          </a:solidFill>
          <a:ln w="12700">
            <a:solidFill>
              <a:srgbClr val="D8CFC0"/>
            </a:solidFill>
            <a:prstDash val="solid"/>
          </a:ln>
        </p:spPr>
      </p:sp>
      <p:pic>
        <p:nvPicPr>
          <p:cNvPr id="18" name="Image 4" descr="assets/bad_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17136" y="4636008"/>
            <a:ext cx="3246120" cy="15179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79976" y="6336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✕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No usar sobre fondos de bajo contraste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156448" y="4526280"/>
            <a:ext cx="3520440" cy="1737360"/>
          </a:xfrm>
          <a:prstGeom prst="roundRect">
            <a:avLst>
              <a:gd name="adj" fmla="val 2632"/>
            </a:avLst>
          </a:prstGeom>
          <a:solidFill>
            <a:srgbClr val="F0EBE0"/>
          </a:solidFill>
          <a:ln w="12700">
            <a:solidFill>
              <a:srgbClr val="D8CFC0"/>
            </a:solidFill>
            <a:prstDash val="solid"/>
          </a:ln>
        </p:spPr>
      </p:sp>
      <p:pic>
        <p:nvPicPr>
          <p:cNvPr id="21" name="Image 5" descr="assets/bad_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93608" y="4636008"/>
            <a:ext cx="3246120" cy="15179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156448" y="6336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✕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No modificar ni recomponer sus elementos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 · COLOR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Paleta institucional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Una paleta de tierra derivada del propio logotipo, coherente con el material y el espíritu de Earth Printing.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1945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0C4326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PRINCIPAL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32104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Verde bosque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2104" y="4096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3B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#0C4326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RGB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89304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12 · 67 · 38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CMYK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9304" y="5029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82 · 0 · 43 · 74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38144" y="21945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8DA784"/>
          </a:solidFill>
          <a:ln/>
        </p:spPr>
      </p:sp>
      <p:sp>
        <p:nvSpPr>
          <p:cNvPr id="14" name="Text 12"/>
          <p:cNvSpPr/>
          <p:nvPr/>
        </p:nvSpPr>
        <p:spPr>
          <a:xfrm>
            <a:off x="3666744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23331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SECUNDARIO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66744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33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Verde salvia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66744" y="4096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31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#8DA784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6432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RGB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23944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141 · 167 · 132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CMYK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23944" y="5029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16 · 0 · 21 · 35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2784" y="21945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6A2E16"/>
          </a:solidFill>
          <a:ln/>
        </p:spPr>
      </p:sp>
      <p:sp>
        <p:nvSpPr>
          <p:cNvPr id="22" name="Text 20"/>
          <p:cNvSpPr/>
          <p:nvPr/>
        </p:nvSpPr>
        <p:spPr>
          <a:xfrm>
            <a:off x="6501384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6CFC4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ACENTO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01384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Marrón tierra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01384" y="4096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CFC4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#6A2E16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RGB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58584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106 · 46 · 22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1072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CMYK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58584" y="5029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 · 57 · 79 · 58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07424" y="219456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9D7A73"/>
          </a:solidFill>
          <a:ln/>
        </p:spPr>
      </p:sp>
      <p:sp>
        <p:nvSpPr>
          <p:cNvPr id="30" name="Text 28"/>
          <p:cNvSpPr/>
          <p:nvPr/>
        </p:nvSpPr>
        <p:spPr>
          <a:xfrm>
            <a:off x="9336024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3A2A2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COMPLEMENTARIO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336024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Malva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336024" y="4096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#9D7A73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25712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RGB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793224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157 · 122 · 115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25712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CMYK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793224" y="5029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0 · 22 · 27 · 38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NEUTROS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1680" y="5715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 w="9525">
            <a:solidFill>
              <a:srgbClr val="D8CF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5742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Crema  </a:t>
            </a:r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#F4F0E8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5715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9525">
            <a:solidFill>
              <a:srgbClr val="D8CF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5742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Papel  </a:t>
            </a:r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#FBF9F4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863840" y="57150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31F20"/>
          </a:solidFill>
          <a:ln w="9525">
            <a:solidFill>
              <a:srgbClr val="D8CF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58200" y="5742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Tinta  </a:t>
            </a:r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#231F20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 · TIPOGRAFÍA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Familias tipográficas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 sistema geométrico y neo-grotesco, de líneas limpias y buen desempeño en pantalla e impresión. Fuentes libres, descargables desde Google Fonts.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194560"/>
            <a:ext cx="3520440" cy="3657600"/>
          </a:xfrm>
          <a:prstGeom prst="roundRect">
            <a:avLst>
              <a:gd name="adj" fmla="val 1558"/>
            </a:avLst>
          </a:prstGeom>
          <a:solidFill>
            <a:srgbClr val="F0EBE0"/>
          </a:solidFill>
          <a:ln/>
        </p:spPr>
      </p:sp>
      <p:sp>
        <p:nvSpPr>
          <p:cNvPr id="6" name="Text 4"/>
          <p:cNvSpPr/>
          <p:nvPr/>
        </p:nvSpPr>
        <p:spPr>
          <a:xfrm>
            <a:off x="832104" y="23317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0C4326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Aa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877824" y="3886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Archivo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7824" y="4297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2E1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Títulos y display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7824" y="4663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655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ABCDEFGHIJKLMNÑOPQRSTUVWXYZ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655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abcdefghijklmnñopqrstuvwxyz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655C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0123456789  ·  ¿?¡!&amp;%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" y="5394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0C432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ExtraBold · Bold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79976" y="2194560"/>
            <a:ext cx="3520440" cy="3657600"/>
          </a:xfrm>
          <a:prstGeom prst="roundRect">
            <a:avLst>
              <a:gd name="adj" fmla="val 1558"/>
            </a:avLst>
          </a:prstGeom>
          <a:solidFill>
            <a:srgbClr val="F0EBE0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23317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4654296" y="3886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Grotesk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54296" y="4297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2E1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Subtítulos y destacados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54296" y="4663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E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ABCDEFGHIJKLMNÑOPQRSTUVWXYZ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E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abcdefghijklmnñopqrstuvwxyz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E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0123456789  ·  ¿?¡!&amp;%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54296" y="5394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0C432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Bold · Medium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56448" y="2194560"/>
            <a:ext cx="3520440" cy="3657600"/>
          </a:xfrm>
          <a:prstGeom prst="roundRect">
            <a:avLst>
              <a:gd name="adj" fmla="val 1558"/>
            </a:avLst>
          </a:prstGeom>
          <a:solidFill>
            <a:srgbClr val="F0EBE0"/>
          </a:solidFill>
          <a:ln/>
        </p:spPr>
      </p:sp>
      <p:sp>
        <p:nvSpPr>
          <p:cNvPr id="18" name="Text 16"/>
          <p:cNvSpPr/>
          <p:nvPr/>
        </p:nvSpPr>
        <p:spPr>
          <a:xfrm>
            <a:off x="8385048" y="23317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0C432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Aa</a:t>
            </a:r>
            <a:endParaRPr lang="en-US" sz="9600" dirty="0"/>
          </a:p>
        </p:txBody>
      </p:sp>
      <p:sp>
        <p:nvSpPr>
          <p:cNvPr id="19" name="Text 17"/>
          <p:cNvSpPr/>
          <p:nvPr/>
        </p:nvSpPr>
        <p:spPr>
          <a:xfrm>
            <a:off x="8430768" y="3886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 Sans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30768" y="4297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2E1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Cuerpo de texto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30768" y="4663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ABCDEFGHIJKLMNÑOPQRSTUVWXYZ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abcdefghijklmnñopqrstuvwxyz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0123456789  ·  ¿?¡!&amp;%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30768" y="5394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0C432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Regular · Medium · SemiBold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05 · RECURSOS GRÁFICOS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textura de estratos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17830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1F2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relieve horizontal y sedimentario de las capas de barro impreso es el recurso visual más propio y exclusivo de la marca. Reproduce, en la comunicación, lo que la máquina hace en la obra.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Usos recomendados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7A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 </a:t>
            </a:r>
            <a:pPr indent="0" marL="0">
              <a:buNone/>
            </a:pPr>
            <a:r>
              <a:rPr lang="en-US" sz="12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Fondos de portada y separadores de sección.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3995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7A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 </a:t>
            </a:r>
            <a:pPr indent="0" marL="0">
              <a:buNone/>
            </a:pPr>
            <a:r>
              <a:rPr lang="en-US" sz="12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Bloques de color plano con textura sutil.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4379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7A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 </a:t>
            </a:r>
            <a:pPr indent="0" marL="0">
              <a:buNone/>
            </a:pPr>
            <a:r>
              <a:rPr lang="en-US" sz="12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Reservar el pleno de textura para piezas protagonistas.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4983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A2E1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Otros motivos: la geometría del domo y la estructura de pórtico de la impresora sobre el paisaje serrano.</a:t>
            </a:r>
            <a:endParaRPr lang="en-US" sz="1150" dirty="0"/>
          </a:p>
        </p:txBody>
      </p:sp>
      <p:pic>
        <p:nvPicPr>
          <p:cNvPr id="10" name="Image 0" descr="assets/strata_for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828800"/>
            <a:ext cx="5760720" cy="2148840"/>
          </a:xfrm>
          <a:prstGeom prst="rect">
            <a:avLst/>
          </a:prstGeom>
        </p:spPr>
      </p:pic>
      <p:pic>
        <p:nvPicPr>
          <p:cNvPr id="11" name="Image 1" descr="assets/strata_terr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06440" y="4114800"/>
            <a:ext cx="2788920" cy="1600200"/>
          </a:xfrm>
          <a:prstGeom prst="rect">
            <a:avLst/>
          </a:prstGeom>
        </p:spPr>
      </p:pic>
      <p:pic>
        <p:nvPicPr>
          <p:cNvPr id="12" name="Image 2" descr="assets/strata_crea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78240" y="4114800"/>
            <a:ext cx="2788920" cy="1600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064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verde bosque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A2E16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05 · APLICACIONES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Redes sociales</a:t>
            </a:r>
            <a:endParaRPr lang="en-US" sz="3000" dirty="0"/>
          </a:p>
        </p:txBody>
      </p:sp>
      <p:pic>
        <p:nvPicPr>
          <p:cNvPr id="4" name="Image 0" descr="assets/ig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828800"/>
            <a:ext cx="397764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852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Feed · Instagram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846320" y="182880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0EBE0"/>
          </a:solidFill>
          <a:ln/>
        </p:spPr>
      </p:sp>
      <p:pic>
        <p:nvPicPr>
          <p:cNvPr id="7" name="Image 1" descr="assets/ig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938528"/>
            <a:ext cx="3383280" cy="19547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Perfil unificado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846320" y="4480560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0C4326"/>
          </a:solidFill>
          <a:ln/>
        </p:spPr>
      </p:sp>
      <p:sp>
        <p:nvSpPr>
          <p:cNvPr id="10" name="Text 6"/>
          <p:cNvSpPr/>
          <p:nvPr/>
        </p:nvSpPr>
        <p:spPr>
          <a:xfrm>
            <a:off x="5074920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chivo ExtraBold" pitchFamily="34" charset="0"/>
                <a:ea typeface="Archivo ExtraBold" pitchFamily="34" charset="-122"/>
                <a:cs typeface="Archivo ExtraBold" pitchFamily="34" charset="-120"/>
              </a:rPr>
              <a:t>@barrobot3d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074920" y="5074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6D3B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Unificar el usuario en todas las plataformas para facilitar el reconocimiento y la búsqueda.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77824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Recomendaciones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77824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7A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Jerarquizar la información para su lectura.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778240" y="27614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7A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saturar: desde lo simple se genera impacto.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778240" y="33284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D7A73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—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Usar la textura de estratos con moderación.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77824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3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Plataformas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77824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32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966960" y="4389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@barrobot3d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77824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32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YouTube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966960" y="4754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BARROBOT3D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778240" y="5120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32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Facebook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9966960" y="5120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BarroBot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778240" y="5486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4326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Web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966960" y="5486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barrobot3d.com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01B">
              <a:alpha val="75000"/>
            </a:srgbClr>
          </a:solidFill>
          <a:ln/>
        </p:spPr>
      </p:sp>
      <p:pic>
        <p:nvPicPr>
          <p:cNvPr id="3" name="Image 0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3931920" cy="1194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“Imprimimos tierra, construimos futuro.”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41248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WEB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00400" y="39502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barrobot3d.com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" y="4434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0" y="44074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@barrobot3d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4892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EMAIL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0" y="48646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barrobot3d@gmail.com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5349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TEL · WHATSAPP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0" y="53218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+54 9 11 6569-1974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" y="5806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UBICACIÓN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0" y="57790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-120"/>
              </a:rPr>
              <a:t>San Javier · Traslasierra · Córdoba · Argentina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1248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6D3B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BARROBOT3D · MANUAL DE MARCA · VERSIÓN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2026-07-30T19:22:17Z</dcterms:created>
  <dcterms:modified xsi:type="dcterms:W3CDTF">2026-07-30T19:22:17Z</dcterms:modified>
</cp:coreProperties>
</file>